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80160"/>
            <a:ext cx="109728" cy="40233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4630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PROJETO EXPANSÃO +30%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ESTRATÉGIA COMERCIAL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PRODUTIVIDADE MÉDICA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97280" y="3566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Diagnóstico da Carteira, Eliminação de Ociosidade e Metas de Aceleração nos Oftalmologistas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4480560"/>
            <a:ext cx="100584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EQUIPE COMERCIAL: SILVIA &amp; ÂNGELO | CAMPINAS E REGIÃO METROPOLITANA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6217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CONTROLE DE LENTES | SLIDE 01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PLANO ESTRATÉGICO DE CRESCIMENTO MÉDICO | SLIDE 02/10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RAIO-X ATUAL: R$ 2,10 MILHÕES FATURADOS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Consolidado Quadrimestral (Junho a Setembro/2026) da Carteira Médica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CONTROLE DE LENTES | COMERCIAL MÉDICO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SLIDE 02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FATURAMENTO TOTAL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R$ 2.105.037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Média de R$ 526,2k / mês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160020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MÉDICOS PRESCRITORES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66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130 Médicos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11880" y="28346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Ativos nas listas de comissão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SILVIA (PRODUÇÃO)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R$ 602.699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55080" y="28346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64 médicos ativos | Tíquete R$ 9,4k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160020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ÂNGELO (PRODUÇÃO)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098280" y="2057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R$ 1.502.338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98280" y="28346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66 médicos ativos | Tíquete R$ 22,8k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931920"/>
            <a:ext cx="10698480" cy="2194560"/>
          </a:xfrm>
          <a:prstGeom prst="roundRect">
            <a:avLst>
              <a:gd name="adj" fmla="val 4167"/>
            </a:avLst>
          </a:prstGeom>
          <a:solidFill>
            <a:srgbClr val="EFF6FF"/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0690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💡 DIAGNÓSTICO ESTRATÉGICO DA CARTEIRA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443484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Base de Clientes de Alta Fidelidade: Apenas 130 médicos geram mais de R$ 2,1 milhões no quadrimestre.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Oportunidade Evidente: Há uma disparidade expressiva de tíquete médio (Silvia R$ 9,4k vs Ângelo R$ 22,8k) e mais de 230 médicos da carteira com ZERO prescrição.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Conclusão: Não é necessário dobrar a equipe para crescer 30%; o crescimento está represado dentro da carteira já cadastrada.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PLANO ESTRATÉGICO DE CRESCIMENTO MÉDICO | SLIDE 03/10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O OBJETIVO: CRESCIMENTO DE +30% EM 90 DIAS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Metas Financeiras e Operacionais para o Laboratório e Representantes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CONTROLE DE LENTES | COMERCIAL MÉDICO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SLIDE 03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1663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830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FATURAMENTO MENSAL ATUAL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1031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R$ 526.259 / mês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60120" y="2788920"/>
            <a:ext cx="4709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9718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META COM +30% (+R$ 157,8k/MÊS)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29184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R$ 684.137 / mês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60120" y="525780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Meta Quadrimestral: R$ 2.736.548 (+R$ 631.511 adicionais)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600200"/>
            <a:ext cx="51663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7830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DE ONDE VIRÁ O CRESCIMENTO? (OS 4 PILARES)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2286000"/>
            <a:ext cx="365760" cy="36576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2240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Ativação de Médicos Inativos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25146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Converter 15% dos 230 médicos visitados que não compram (+R$ 160k/mês).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3200400"/>
            <a:ext cx="365760" cy="36576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3154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Aumento de Mix &amp; Tíquete Médio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34290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Treinamento e migração para multifocais premium na Silvia (+R$ 38k/mês).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4114800"/>
            <a:ext cx="365760" cy="36576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40690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Eficiência de Campo (15 vis/dia)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5160" y="43434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Roteiros concentrados em Edifícios Médicos (+20% de contatos úteis).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5029200"/>
            <a:ext cx="365760" cy="36576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95160" y="49834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Expansão Eixo Sul (Indaiatuba/Valinhos)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95160" y="52578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Captação de novos parceiros em regiões de altíssimo PIB (+R$ 30k/mês).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PLANO ESTRATÉGICO DE CRESCIMENTO MÉDICO | SLIDE 04/10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PILAR 1: ATIVAR OS 230 MÉDICOS DA CARTEIRA INATIVA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O Maior Tesouro Oculto: Converter Quem Já É Visitado Mas Não Prescreve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CONTROLE DE LENTES | COMERCIAL MÉDICO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SLIDE 04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166360" cy="2240280"/>
          </a:xfrm>
          <a:prstGeom prst="roundRect">
            <a:avLst>
              <a:gd name="adj" fmla="val 4082"/>
            </a:avLst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830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SILVIA: 193 MÉDICOS INATIVOS (75% DA CARTEIRA)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1031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75% Sem Venda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60120" y="28346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1D1D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Dos 257 médicos da carteira, apenas 64 compram. 193 médicos recebem visitas regulares de relacionamento mas não emitem pedidos.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600200"/>
            <a:ext cx="5166360" cy="2240280"/>
          </a:xfrm>
          <a:prstGeom prst="roundRect">
            <a:avLst>
              <a:gd name="adj" fmla="val 4082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830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ÂNGELO: 77 MÉDICOS INATIVOS (54% DA CARTEIRA)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54% Sem Venda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92240" y="28346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8350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Dos 143 médicos da carteira, 66 compram. Há 77 médicos já cadastrados prontos para ativação comercial com campanhas específicas.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10698480" cy="2057400"/>
          </a:xfrm>
          <a:prstGeom prst="roundRect">
            <a:avLst>
              <a:gd name="adj" fmla="val 4444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2062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🎯 PLANO DE CONVERSÃO DE INATIVOS (IMPACTO: +R$ 160.000 / MÊS)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572000"/>
            <a:ext cx="10241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1. Mapear os 40 médicos inativos prioritários com maior potencial clínico e cirúrgico.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2. Ofertar "Kit Boas-Vindas / Amostra de Lente Premium" e benefício comercial na primeira prescrição.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3. Meta de Ativação: 40 novos prescritores (20 Silvia + 20 Ângelo) gerando uma média modesta de R$ 4.000/mês cada.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👉 RESULTADO: 40 médicos x R$ 4.000 = +R$ 160.000 / mês adicionais (Bate 101% da meta de +30%).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PLANO ESTRATÉGICO DE CRESCIMENTO MÉDICO | SLIDE 05/10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PILAR 2: ELEVAÇÃO DO TÍQUETE MÉDIO E MIX DE LENTES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Equalizando a Metodologia Comercial de Alto Valor Entre os Representantes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CONTROLE DE LENTES | COMERCIAL MÉDICO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SLIDE 05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1663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830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TÍQUETE MÉDIO POR MÉDICO PRODUTOR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1488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Silvia: R$ 9.417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0120" y="26974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6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Ângelo: R$ 22.762 (+141% maior)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60120" y="333756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O Ângelo foca em clínicas cirúrgicas e multifocais personalizadas, enquanto a Silvia atende alto volume com tíquete mais pulverizado.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1663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7830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AÇÕES DE UPGRADE DE MIX NA SILVIA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47091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Treinamento de Produtos Premium: Focar nos diferenciais de multifocais digitais e tratamentos de alta margem.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Mentoria Interna: Compartilhar a abordagem clínica de valor aplicada pelo Ângelo.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Meta de Ganho: Elevar o tíquete médio da Silvia em 25% (de R$ 9,4k para R$ 11,8k).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👉 IMPACTO: 64 médicos x +R$ 2.383 = +R$ 38.000 / mês adicionais.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709160"/>
            <a:ext cx="10698480" cy="1417320"/>
          </a:xfrm>
          <a:prstGeom prst="roundRect">
            <a:avLst>
              <a:gd name="adj" fmla="val 6452"/>
            </a:avLst>
          </a:prstGeom>
          <a:solidFill>
            <a:srgbClr val="EFF6FF"/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846320"/>
            <a:ext cx="10241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🚀 RESULTADO COMBINADO DOS PILARES 1 E 2: +R$ 198.000 / MÊS ADICIONAIS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(Ultrapassa a meta de +30%, somando +R$ 792.000 adicionais no quadrimestre)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PLANO ESTRATÉGICO DE CRESCIMENTO MÉDICO | SLIDE 06/10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PILAR 3: ATINGIR O PADRÃO DE 15 VISITAS / DIA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Estratégia de "Clustering Vertical" para Eliminar Perda de Tempo no Trânsito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CONTROLE DE LENTES | COMERCIAL MÉDICO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SLIDE 06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1663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830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DIAGNÓSTICO ATUAL DE VISITAS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1488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Silvia: 12,3 visitas / dia ativo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25603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Operação consistente (95% de presença nos dias úteis).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Próxima do piso de mercado (12), com potencial para atingir 15.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34290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Ângelo: 10,5 visitas / dia ativo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0120" y="384048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20% de dias úteis sem visitas lançadas e ritmo abaixo do piso.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Oportunidade de elevar para 15 visitas/dia nos dias de campo.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530352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META DA EQUIPE: 15 VISITAS / DIA (300 VISITAS/MÊS POR REP)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600200"/>
            <a:ext cx="5166360" cy="4480560"/>
          </a:xfrm>
          <a:prstGeom prst="roundRect">
            <a:avLst>
              <a:gd name="adj" fmla="val 2041"/>
            </a:avLst>
          </a:prstGeom>
          <a:solidFill>
            <a:srgbClr val="F8FAFC"/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7830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A TÁTICA: CLUSTERING VERTICAL (EDIFÍCIOS)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2402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1. Mapeamento de Prédios Médicos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249631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Edifícios na Barão de Itapura e Cambuí concentram de 5 a 12 consultórios oftalmológicos no mesmo endereço.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31546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2. Visitas em Bloco (Andar por Andar)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92240" y="341071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Estacionar o carro uma única vez pela manhã e cumprir 6 a 8 contatos médicos sem deslocamento urbano.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40690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3. Redução de 60% no Deslocamento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92240" y="432511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Menos tempo perdido no trânsito e mais tempo de contato efetivo com secretárias e médicos.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49834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4. Ganho de Produtividade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92240" y="523951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Permite bater 15 visitas/dia com menor cansaço físico e maior regularidade semanal.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PLANO ESTRATÉGICO DE CRESCIMENTO MÉDICO | SLIDE 07/10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PILAR 4: MONITORAMENTO EM TEMPO REAL NO APP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Fim dos "Apagões" de Registro e Sincronização Total das Vendas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CONTROLE DE LENTES | COMERCIAL MÉDICO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SLIDE 07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166360" cy="4480560"/>
          </a:xfrm>
          <a:prstGeom prst="roundRect">
            <a:avLst>
              <a:gd name="adj" fmla="val 2041"/>
            </a:avLst>
          </a:prstGeom>
          <a:solidFill>
            <a:srgbClr val="FFF5F5"/>
          </a:solidFill>
          <a:ln w="19050">
            <a:solidFill>
              <a:srgbClr val="FEB2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830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1C1C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O GAP IDENTIFICADO NA AUDITORIA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1945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Apagão de Registro no App: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46888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2A2A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O Ângelo gerou mais de R$ 732.000 em vendas em Agosto e Setembro (cadernos), mas registrou ZERO visitas no App após 03/08.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32918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10 Médicos Produtores Desconectados: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56616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2A2A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R$ 38.000,00 faturados por médicos que não existiam no cadastro do App (Jaqueline Mori, Livia Lonzoni, André Luca Testa, etc.).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43891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Risco Gerencial: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66344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2A2A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Sem dados no App, a gestão perde visibilidade do funil de vendas, retornos pendentes e satisfação do médico.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1600200"/>
            <a:ext cx="5166360" cy="4480560"/>
          </a:xfrm>
          <a:prstGeom prst="roundRect">
            <a:avLst>
              <a:gd name="adj" fmla="val 2041"/>
            </a:avLst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7830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NOVO PROTOCOLO DE GESTÃO EM TEMPO REAL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21945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1. Check-in Diário Obrigatório no App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92240" y="245059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Todas as visitas realizadas no dia devem ser lançadas até as 19h com assunto e retorno programado.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31546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2. Cadastro Imediato de Novos Prescritores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341071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Qualquer médico novo identificado deve ser inserido no App no mesmo dia com CRM oficial.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41148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3. Acompanhamento Semanal de Produção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92240" y="437083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Cruzamento semanal entre visitas cadastradas e pedidos faturados no laboratório.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507492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4. Dashboard em Tempo Real para a Direção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92240" y="533095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Visão clara dos médicos que estão aumentando ou reduzindo prescrição para ação preventiva.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PLANO ESTRATÉGICO DE CRESCIMENTO MÉDICO | SLIDE 08/10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PILAR 5: EXPANSÃO NO EIXO SUL &amp; POLO MÉDICO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Captação de Novos Oftalmologistas em Regiões de Altíssimo Poder de Compra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CONTROLE DE LENTES | COMERCIAL MÉDICO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SLIDE 08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3337560" cy="4480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83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PRIORIDADE 1 - ALTO PIB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1031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INDAIATUBA (EIXO SUL)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65176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População em forte expansão (+260k hab.) com altíssima taxa de planos privados.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Grandes clínicas (IMO, Promédica) e dezenas de consultórios particulares.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A apenas 20 min de Campinas.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👉 Meta: +12 novos parceiros em 60 dias.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07408" y="1600200"/>
            <a:ext cx="3337560" cy="4480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1783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PRIORIDADE 1 - RENDA A/B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44568" y="21031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VALINHOS &amp; VINHEDO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44568" y="265176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Maior IDH e renda per capita média de SP (Vinhedo IDH 0,817).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Pacientes com alta adesão a lentes multifocais topo de linha e tratamentos nobres.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Vizinhança imediata (15 min).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👉 Meta: +8 novos parceiros em 60 dias.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2440" y="1600200"/>
            <a:ext cx="3337560" cy="4480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7830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PRIORIDADE 2 - GRANDE VOLUME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21031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AMERICANA &amp; PIRACICABA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0" y="265176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Polos regionais autossuficientes com forte tradição médica e hospitais de olhos.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Rota dedicada 1 vez por semana.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Excelente para escala de lentes de alto giro.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👉 Meta: +10 novos parceiros em 90 dias.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PLANO ESTRATÉGICO DE CRESCIMENTO MÉDICO | SLIDE 09/10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CRONOGRAMA DE EXECUÇÃO: PRÓXIMOS 30 DIAS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Sprints Semanais para Implementação Imediata e Acompanhamento de Metas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CONTROLE DE LENTES | COMERCIAL MÉDICO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SLIDE 09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2468880" cy="44805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00200"/>
            <a:ext cx="2468880" cy="548640"/>
          </a:xfrm>
          <a:prstGeom prst="rect">
            <a:avLst>
              <a:gd name="adj" fmla="val 16667"/>
            </a:avLst>
          </a:prstGeom>
          <a:solidFill>
            <a:srgbClr val="0A254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SEMANA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Alinhamento &amp; Saneamento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926080"/>
            <a:ext cx="219456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Reunião de alinhamento com Silvia e Ângelo.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Inclusão dos 10 médicos produtores no App.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Apresentação das metas individuais de +30%.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1600200"/>
            <a:ext cx="2468880" cy="44805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600200"/>
            <a:ext cx="2468880" cy="548640"/>
          </a:xfrm>
          <a:prstGeom prst="rect">
            <a:avLst>
              <a:gd name="adj" fmla="val 16667"/>
            </a:avLst>
          </a:prstGeom>
          <a:solidFill>
            <a:srgbClr val="0A2540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SEMANA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Ataque aos 40 Inativos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11880" y="2926080"/>
            <a:ext cx="219456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Seleção dos 40 médicos inativos prioritários.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Início da rota com Kit Boas-Vindas e benefício de 1ª prescrição.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Roteirização por Edifícios Médicos.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600200"/>
            <a:ext cx="2468880" cy="44805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600200"/>
            <a:ext cx="2468880" cy="548640"/>
          </a:xfrm>
          <a:prstGeom prst="rect">
            <a:avLst>
              <a:gd name="adj" fmla="val 16667"/>
            </a:avLst>
          </a:prstGeom>
          <a:solidFill>
            <a:srgbClr val="0A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SEMANA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Campanha de Mix Premium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2926080"/>
            <a:ext cx="219456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Treinamento técnico de multifocais para a Silvia.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Mentoria e compartilhamento de técnicas comerciais.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Acompanhamento diário no App.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61120" y="1600200"/>
            <a:ext cx="2468880" cy="448056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0" y="1600200"/>
            <a:ext cx="2468880" cy="548640"/>
          </a:xfrm>
          <a:prstGeom prst="rect">
            <a:avLst>
              <a:gd name="adj" fmla="val 16667"/>
            </a:avLst>
          </a:prstGeom>
          <a:solidFill>
            <a:srgbClr val="0A2540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SEMANA 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9828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Expansão Regional &amp; Revisão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98280" y="2926080"/>
            <a:ext cx="219456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Início da prospecção em Indaiatuba e Valinhos.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Fechamento mensal e comparação com a meta.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• Ajuste fino de rotas.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9728" cy="5303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7772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PROJEÇÃO DE RETORNO CONSOLIDADA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O RESULTADO ESPERADO: +R$ 630.000 NO QUADRIMESTRE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17830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Com a mesma equipe, eliminação de ociosidade de campo e disciplina comercial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240280"/>
            <a:ext cx="1024128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377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1. ATIVAÇÃO DE INATIVOS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743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40 médicos convertidos x R$ 4.000 / mês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+R$ 160.000 / mês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97280" y="3429000"/>
            <a:ext cx="1024128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3566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2. UPGRADE DE MIX (SILVIA)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931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Elevação de 25% no tíquete médio através de produtos premium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36576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+R$ 38.000 / mês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97280" y="4617720"/>
            <a:ext cx="1024128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3. EXPANSÃO REGIONAL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5120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Novos parceiros em Indaiatuba, Valinhos e Vinhedo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48463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+R$ 30.000 / mês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97280" y="59436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umanist 777 Cn BT" pitchFamily="34" charset="0"/>
                <a:ea typeface="Humanist 777 Cn BT" pitchFamily="34" charset="-122"/>
                <a:cs typeface="Humanist 777 Cn BT" pitchFamily="34" charset="-120"/>
              </a:rPr>
              <a:t>🚀 TOTAL ADICIONAL PROJETADO: +R$ 228.000 / MÊS (+43% DE CRESCIMENTO POTENCIAL)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Laboratório de Lentes Oftálmicas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Crescimento +30% na Prescrição Médica</dc:title>
  <dc:subject>PptxGenJS Presentation</dc:subject>
  <dc:creator>A.T.L.A.S.</dc:creator>
  <cp:lastModifiedBy>A.T.L.A.S.</cp:lastModifiedBy>
  <cp:revision>1</cp:revision>
  <dcterms:created xsi:type="dcterms:W3CDTF">2026-10-09T19:44:29Z</dcterms:created>
  <dcterms:modified xsi:type="dcterms:W3CDTF">2026-10-09T19:44:29Z</dcterms:modified>
</cp:coreProperties>
</file>